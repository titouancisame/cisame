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4114800"/>
          </a:xfrm>
          <a:prstGeom prst="rect">
            <a:avLst/>
          </a:prstGeom>
          <a:solidFill>
            <a:srgbClr val="00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BBDD"/>
                </a:solidFill>
                <a:latin typeface="Calibri"/>
              </a:defRPr>
            </a:pPr>
            <a:r>
              <a:t>Universite de Strasbourg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CiSaMe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87C2A"/>
                </a:solidFill>
                <a:latin typeface="Calibri"/>
              </a:defRPr>
            </a:pPr>
            <a:r>
              <a:t>Circulation des Savoirs Medievaux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Projet de recherche en Humanites Numeriques</a:t>
            </a:r>
            <a:br/>
            <a:r>
              <a:t>et son integration dans l'environnement des Humanites Numeriques Alsaciennes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754880"/>
            <a:ext cx="2103120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Calibri"/>
              </a:defRPr>
            </a:pPr>
            <a:r>
              <a:t>Faculte de Droit | MISHA | Strasbourg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99BB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Plan de la presentation (~30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727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C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727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Contexte et objectifs du projet CiSaMe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5727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40280"/>
            <a:ext cx="10332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500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C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500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Architecture technique : le pipeline en 9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3500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8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1272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C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272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Enrichissement linguistique et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1272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9044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C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9044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Diffusion et outils de requetage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9044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6817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C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6817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Integration dans les Humanites Numeriques Alsaciennes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68172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4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4589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C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4589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Bilan, perspectives et discussion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4589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3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00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C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Contexte et objectifs du projet CiSaMe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AABB"/>
                </a:solidFill>
                <a:latin typeface="Calibri"/>
              </a:defRPr>
            </a:pPr>
            <a:r>
              <a:t>De la source medievale au corpus numerique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Contexte scientifique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Le droit medieval : un patrimoine textuel considerable encore largement inexploite par les outils numeriques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Des centaines de manuscrits juridiques (droit canonique, droit romain) disperses dans les bibliotheques europeennes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Une tradition de recherche riche a l'Universite de Strasbourg (Faculte de Droit, MISHA)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Le besoin d'une plateforme integree pour la numerisation, la transcription et l'analyse computationnelle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CiSaMe : un projet ne a l'intersection de l'histoire du droit et des humanites numeriques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Objectifs du projet CiSaMe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73152" cy="7315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Numeriser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Acquerir les images de manuscrits et editions via IIIF, PDF, sources numeriques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73152" cy="7315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Transcrire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Appliquer la reconnaissance automatique d'ecriture manuscrite (HTR) via eScriptorium/Kraken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83280"/>
            <a:ext cx="73152" cy="7315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Enrichir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Annoter linguistiquement les textes latins (lemmatisation, etiquetage morphosyntaxique)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43400"/>
            <a:ext cx="73152" cy="7315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Valider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Verifier la qualite des transcriptions avec un systeme de double dictionnaire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03520"/>
            <a:ext cx="73152" cy="7315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Diffuser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69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Mettre a disposition les corpus via Nakala, NoSketch-Engine et une plateforme web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 corpus en chiffres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7C2A"/>
                </a:solidFill>
                <a:latin typeface="Calibri"/>
              </a:defRPr>
            </a:pPr>
            <a:r>
              <a:t>317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Manuscrits</a:t>
            </a:r>
            <a:br/>
            <a:r>
              <a:t>medievaux repertories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7C2A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Editions</a:t>
            </a:r>
            <a:br/>
            <a:r>
              <a:t>documentees (Heurist)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7C2A"/>
                </a:solidFill>
                <a:latin typeface="Calibri"/>
              </a:defRPr>
            </a:pPr>
            <a:r>
              <a:t>5 768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Enregistrements</a:t>
            </a:r>
            <a:br/>
            <a:r>
              <a:t>dans la base Heurist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7C2A"/>
                </a:solidFill>
                <a:latin typeface="Calibri"/>
              </a:defRPr>
            </a:pPr>
            <a:r>
              <a:t>4 149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Fichiers du</a:t>
            </a:r>
            <a:br/>
            <a:r>
              <a:t>Decret de Gratien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Repartition par type de texte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Droit canonique  :  ~38 editions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Theologie  :  ~61 editions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Droit romain  :  ~17 editions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Autres  :  ~13 editions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Sources principales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572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Bibliotheque Vaticane, Archives Secretes du Vatican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British Library, Bodleian Library (Oxford)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Bibliotheque Nationale de France (BnF)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Admont, Bamberg, manuscripta.at, BVMM (IRHT-CNRS)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00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C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AABB"/>
                </a:solidFill>
                <a:latin typeface="Calibri"/>
              </a:defRPr>
            </a:pPr>
            <a:r>
              <a:t>Un pipeline modulaire en 9 etapes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Les 9 modules du pipeline CiSaMe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De l'acquisition des images a la diffusion des corpus annotes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01168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90D9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Telechargement</a:t>
            </a:r>
            <a:br/>
            <a:r>
              <a:t>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64592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645920"/>
            <a:ext cx="201168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90D9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Acquisition</a:t>
            </a:r>
            <a:br/>
            <a:r>
              <a:t>(IIIF, PDF...)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164592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1645920"/>
            <a:ext cx="201168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90D9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Recuperation</a:t>
            </a:r>
            <a:br/>
            <a:r>
              <a:t>editions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799" y="164592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43799" y="1645920"/>
            <a:ext cx="201168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C2A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eScriptorium</a:t>
            </a:r>
            <a:br/>
            <a:r>
              <a:t>HTR/OCR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79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164592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1645920"/>
            <a:ext cx="201168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C2A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28600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Nettoyage</a:t>
            </a:r>
            <a:br/>
            <a:r>
              <a:t>XML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023360"/>
            <a:ext cx="20116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Enrichissement</a:t>
            </a:r>
            <a:br/>
            <a:r>
              <a:t>linguistique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663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402336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80360" y="4023360"/>
            <a:ext cx="20116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6634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NoSketch</a:t>
            </a:r>
            <a:br/>
            <a:r>
              <a:t>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663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402336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12080" y="4023360"/>
            <a:ext cx="201168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1FA2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46634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Diffusion</a:t>
            </a:r>
            <a:br/>
            <a:r>
              <a:t>Nakala/Seafile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4663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3799" y="402336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43799" y="4023360"/>
            <a:ext cx="201168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799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1FA2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39" y="46634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Visualisation</a:t>
            </a:r>
            <a:br/>
            <a:r>
              <a:t>Requetes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Transversal  :  Base de metadonnees Heurist (hdb_cisame_misha)  |  Pipeline parallele Decret de Gratien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Modules 1-4 : Acquisition et Transcription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Acquisition des sources (M1-M3)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Telechargement via protocole IIIF (manifestes JSON)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Extraction d'images depuis PDF, hexadecimal, tuiles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Classification par statut de droits : libre / restreint / prive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Inventaire de 317 manuscrits dans liste_manuscrits.csv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0352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Transcription HTR/OCR (M4)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Plateforme eScriptorium pour segmentation + transcription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Modeles Kraken entraines et fine-tunes (HPC Unistra)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Modeles distincts : manuscrits vs editions imprimees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Export au format XML PAGE (standard HTR)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30352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Nettoyage XML (M5)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Nettoyage via Oxygen XML Editor (XPath + Regex)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Suppression des artefacts de segmentation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Verification de la structure XML PAGE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Preparation pour l'enrichissement linguistique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1148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114800"/>
            <a:ext cx="530352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Technologies 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17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Kraken : moteur ML pour HTR/OCR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eScriptorium : interface web de transcription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XML PAGE : standard d'echange pour la transcription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Fine-tuning sur le HPC de l'Universite de Strasbourg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Modeles Kraken : segmentation et transcription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Modeles de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SEGMENTATION_EDITION : detection de lignes pour editions imprimees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SEGMENTATION_MANUSCRIT : detection pour ecritures manuscrites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Identification automatique des zones (MainZone, MarginZone...)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Modeles de transcription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TRANSCRIPTION_EDITION : reconnaissance de caracteres imprimes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TRANSCRIPTION_MANUSCRIT : reconnaissance d'ecritures medievales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Fine-tuning iteratif pour ameliorer la 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471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Processus de fine-tuning (HPC Unistra)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1. Transcription manuelle d'un echantillon de pages (ground truth)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2. Entrainement sur le cluster HPC de l'Universite de Strasbourg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3. Evaluation du Character Error Rate (CER) et du Word Error Rate (WER)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4. Iteration : correction des erreurs, re-entrainement, amelioration progressive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5. Partage des modeles via HTR-United (registre communautaire)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00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C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Enrichissement linguistique et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AABB"/>
                </a:solidFill>
                <a:latin typeface="Calibri"/>
              </a:defRPr>
            </a:pPr>
            <a:r>
              <a:t>PAGEtopage et latin_analyzer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6 : PAGEtopage - Pipeline d'enrichissement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Du XML PAGE au corpus annote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1031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10312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90D9"/>
                </a:solidFill>
                <a:latin typeface="Calibri"/>
              </a:defRPr>
            </a:pPr>
            <a:r>
              <a:t>Step 1</a:t>
            </a:r>
            <a:br/>
            <a: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Parsing XML PAGE</a:t>
            </a:r>
            <a:br/>
            <a:r>
              <a:t>Extraction du texte</a:t>
            </a:r>
            <a:br/>
            <a:r>
              <a:t>Fusion des mots coupes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645920"/>
            <a:ext cx="21031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645920"/>
            <a:ext cx="210312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7C2A"/>
                </a:solidFill>
                <a:latin typeface="Calibri"/>
              </a:defRPr>
            </a:pPr>
            <a:r>
              <a:t>Step 2</a:t>
            </a:r>
            <a:br/>
            <a:r>
              <a:t>Enrich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517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Tokenisation</a:t>
            </a:r>
            <a:br/>
            <a:r>
              <a:t>TreeTagger (lemmes)</a:t>
            </a:r>
            <a:br/>
            <a:r>
              <a:t>Etiquetage 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645920"/>
            <a:ext cx="21031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645920"/>
            <a:ext cx="21031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Step 3</a:t>
            </a:r>
            <a:br/>
            <a:r>
              <a:t>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517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4 formats de sortie :</a:t>
            </a:r>
            <a:br/>
            <a:r>
              <a:t>scholarly, clean,</a:t>
            </a:r>
            <a:br/>
            <a:r>
              <a:t>diplomatic, annotated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645920"/>
            <a:ext cx="21031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0" y="1645920"/>
            <a:ext cx="210312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1FA2"/>
                </a:solidFill>
                <a:latin typeface="Calibri"/>
              </a:defRPr>
            </a:pPr>
            <a:r>
              <a:t>Step 4</a:t>
            </a:r>
            <a:br/>
            <a:r>
              <a:t>Re-enrich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6517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Corrections manuelles</a:t>
            </a:r>
            <a:br/>
            <a:r>
              <a:t>Re-generation auto</a:t>
            </a:r>
            <a:br/>
            <a:r>
              <a:t>des annotations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6666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1645920"/>
            <a:ext cx="21031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1645920"/>
            <a:ext cx="210312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Step 5</a:t>
            </a:r>
            <a:br/>
            <a:r>
              <a:t>DOCX&gt;Vert.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6517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Conversion DOCX</a:t>
            </a:r>
            <a:br/>
            <a:r>
              <a:t>vers format vertical</a:t>
            </a:r>
            <a:br/>
            <a:r>
              <a:t>(latin_analyzer)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6B"/>
                </a:solidFill>
                <a:latin typeface="Calibri"/>
              </a:defRPr>
            </a:pPr>
            <a:r>
              <a:t>Exemple d'annotation TreeTagger (format vertical)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Mot          POS        Lemme</a:t>
            </a:r>
            <a:br/>
            <a:r>
              <a:t>Dominus      NOM        dominus</a:t>
            </a:r>
            <a:br/>
            <a:r>
              <a:t>enim         ADV        enim</a:t>
            </a:r>
            <a:br/>
            <a:r>
              <a:t>dicit        VER        dico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6B"/>
                </a:solidFill>
                <a:latin typeface="Calibri"/>
              </a:defRPr>
            </a:pPr>
            <a:r>
              <a:t>Technologies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TreeTagger : lemmatisation et POS-tagging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PyCollatinus : dictionnaire latin classique (~500k formes)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Du Cange : dictionnaire latin medieval (~100k entrees)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Gestion des variantes orthographiques (u/v, i/j, ae/e)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Les 4 formats d'export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Format Scholarly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Format academique complet avec en-tetes de metadonnees et texte continu. Destine a la publication et a la citation scientifique.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Format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Texte brut, maximalement lisible. Sans annotations ni metadonnees. Pour la lecture et la reference rapide.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Format Diplomatic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Texte avec annotations POS en ligne. Conserve les informations linguistiques dans un format lisible.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4864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Format Annotated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Format tabulaire pour l'analyse computationnelle. Chaque mot sur une ligne avec lemme et etiquette POS.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5B : latin_analyzer - Validation des transcriptions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Systeme de scoring automatique v2.4.0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Systeme de scoring (0-100 points)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3716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75-100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(Noir) Mot reconnu, probablement correct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37160" cy="4572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C2A"/>
                </a:solidFill>
                <a:latin typeface="Calibri"/>
              </a:defRPr>
            </a:pPr>
            <a:r>
              <a:t>40-74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(Orange) Douteux, verification manuelle recommandee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91840"/>
            <a:ext cx="13716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0-39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(Rouge) Erreur OCR probable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Sources de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1. PyCollatinus (latin classique, ~500 000 formes)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2. Du Cange (latin medieval, ~100 000 entrees)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3. Suffixes latins productifs (-arius, -atio, -torium)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4. Detection de contexte ecclesiastique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5. Normalisation des variantes (u/v, i/j, ae/e)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2471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Sortie : document DOCX avec code couleur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Chaque mot du texte est colore selon son score de fiabilite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Rapport statistique genere automatiquement (% de mots reconnus, douteux, errones)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Permet une correction manuelle ciblee : le chercheur se concentre sur les zones rouges/orange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Integration avec le pipeline PAGEtopage pour re-enrichissement apres corrections (Step 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00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C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Diffusion et outils de requetage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AABB"/>
                </a:solidFill>
                <a:latin typeface="Calibri"/>
              </a:defRPr>
            </a:pPr>
            <a:r>
              <a:t>NoSketch-Engine, Nakala, Canon-Law-Toolkit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7 : NoSketch-Engine - Concordancier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Requetes linguistiques sur le corpus CiSaMe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Fonctionnalites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Corpus Query Language (CQL) pour des requetes avancees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Recherche par mot, lemme, categorie grammaticale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Concordances KWIC (Key Word In Context)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Frequences, collocations, n-grammes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Comparaison entre corpus et sous-corpus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4864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Instance hebergee a l'Universite de Strasbourg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Serveur : fip-185-155-93-80.iaas.unistra.fr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Format d'entree : fichiers verticaux (mot/POS/lemme)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Fusion automatique des fichiers (fusion_vertical.py)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12471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Module 7 : Processus de mise en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1. Generation des fichiers verticaux par PAGEtopage (Module 6, format annote)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2. Fusion des fichiers verticaux d'une edition (fusion_vertical.py)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3. Ajout des metadonnees Heurist dans les en-tetes (Edi-XX, auteur, date, type...)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4. Chargement dans NoSketch-Engine et compilation du corpus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5. Le corpus est interrogeable en CQL par les chercheurs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8 : Diffusion des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Nakala (public) et Seafile (acces restreint)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Nakala (Huma-Num)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Depot scientifique avec identifiants perennes (DOI)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Upload automatise via l'API Heimdall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Editions libres de droits uniquement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Scripts : validate_export.py &gt; prepare_nakala_export.py &gt; upload_nakala.py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Enrichissement des verticaux avec URLs Nakala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Conversion des fiches de metadonnees en PDF (LibreOffice)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4864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Seafile (Cloud prive)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Stockage securise pour les materiaux sous droits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Acces restreint aux membres du projet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Editions sous copyright ou acces limite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Complementaire a Nakala pour la couverture 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12471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Gestion des droits : un triple classement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Libre : diffusion ouverte sur Nakala avec DOI  |  Restreint : acces limite via Seafile  |  Prive : acces exclusif equipe projet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9 : Canon-Law-Toolkit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Plateforme web d'analyse - cisame.vercel.app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Generateur de requetes CQL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Recherches de proximite (1-20 tokens)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96 variantes orthographiques automatiques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Recherches semantiques par lemme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Combinaisons avancees proximite + variations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4864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Analyseur de concordances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9 vues specialisees pour l'analyse de corpus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Enrichissement automatique avec metadonnees Edi-XX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Visualisations interactives (Recharts, D3.js)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Export multi-format : CSV, JSON, PNG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12471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Technologies et deploiement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Frontend : React 18.2 + Vite 5.0 (build rapide)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Visualisation : Recharts + D3.js (graphiques, timelines, nuages de mots)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Interface bilingue FR/EN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Deploiement CI/CD sur Vercel (mise a jour automatique)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Version 1.5.0 (novembre 2025) - tests : 93/93 composants UI (100%)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00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C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Integration dans les Humanites Numeriques Alsaciennes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AABB"/>
                </a:solidFill>
                <a:latin typeface="Calibri"/>
              </a:defRPr>
            </a:pPr>
            <a:r>
              <a:t>Un projet ancre dans l'ecosysteme regional et national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L'ecosysteme des Humanites Numeriques en Alsace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Ancrage institutionnel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Universite de Strasbourg (Unistra)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Faculte de Droit - Histoire du droit medieval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MISHA : Maison Interuniversitaire des Sciences de l'Homme - Alsace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Cluster HPC de l'Universite pour le calcul intensif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Infrastructure technique regionale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Serveur NoSketch-Engine heberge a l'Unistra (IaaS)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HPC pour le fine-tuning des modeles Kraken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Integration avec les services numeriques de l'universite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Hebergement et maintenance par l'equipe technique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Connexions nationales (Huma-Num / TGIR)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Nakala : depot de donnees scientifiques perennes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Heimdall : API d'upload vers les services Huma-Num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Participation au reseau HTR-United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Utilisation des standards nationaux DH (XML PAGE, CQL...)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4864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Outils partages de la communaute DH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eScriptorium : plateforme HTR collaborative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Kraken : moteur open-source de reconnaissance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TreeTagger : etiquetage morphosyntaxique multilingue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NoSketch-Engine : concordancier open-source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Heurist : base de donnees relationnelle pour les SHS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Base de metadonnees Heurist (hdb_cisame_misha)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Modele relationnel a 3 tables principales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29184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90D9"/>
                </a:solidFill>
                <a:latin typeface="Calibri"/>
              </a:defRPr>
            </a:pPr>
            <a:r>
              <a:t>AUTEURS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Nom, variantes</a:t>
            </a:r>
            <a:br/>
            <a:r>
              <a:t>multilingues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Ex: Bernardus</a:t>
            </a:r>
            <a:br/>
            <a:r>
              <a:t>Papiensis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C2A"/>
                </a:solidFill>
                <a:latin typeface="Calibri"/>
              </a:defRPr>
            </a:pPr>
            <a:r>
              <a:t>1:n 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645920"/>
            <a:ext cx="329184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C2A"/>
                </a:solidFill>
                <a:latin typeface="Calibri"/>
              </a:defRPr>
            </a:pPr>
            <a:r>
              <a:t>OEUVRES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Titre, date, lieu,</a:t>
            </a:r>
            <a:br/>
            <a:r>
              <a:t>type, responsable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Ex: Summa titulorum</a:t>
            </a:r>
            <a:br/>
            <a:r>
              <a:t>decretalium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C2A"/>
                </a:solidFill>
                <a:latin typeface="Calibri"/>
              </a:defRPr>
            </a:pPr>
            <a:r>
              <a:t>1:n 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64592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6459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Calibri"/>
              </a:defRPr>
            </a:pPr>
            <a:r>
              <a:t>EDITIONS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Editeur, lieu, date,</a:t>
            </a:r>
            <a:br/>
            <a:r>
              <a:t>pages, oeuvre (FK)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Ex: Laspeyres,</a:t>
            </a:r>
            <a:br/>
            <a:r>
              <a:t>Regensburg, 1860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11247120" cy="54864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Statistiques et equipe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5 768 enregistrements  |  129 editions documentees  |  7 utilisateurs actifs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Responsables : Yann, Raphael Eckert, Guillaume Porte et collaborateurs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6 types d'entites crees (Auteur, Oeuvre, Edition, Commentaire, Allegation, Date)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Integration avec les modules 6, 7 et 8 pour les metadonnees des corpus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00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C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Bilan, perspectives et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AABB"/>
                </a:solidFill>
                <a:latin typeface="Calibri"/>
              </a:defRPr>
            </a:pPr>
            <a:r>
              <a:t>Un projet operationnel ouvert sur l'avenir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Bilan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Realisations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9 modules pleinement operationnels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Pipeline complet : de l'image au corpus interrogeable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Plateforme web deployee (cisame.vercel.app)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100% des composants UI testes (93/93)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Realisations scientifiques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317 manuscrits repertories et documentes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129 editions integrees dans Heurist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Corpus interrogeable sur NoSketch-Engine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Donnees diffusees sur Nakala (avec DOI)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Apports methodologiques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Chaine de traitement reproductible et documentee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Guide utilisateur de 700+ lignes pour PAGEtopage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9 fichiers README + 4 rapports d'analyse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Modeles Kraken partages via HTR-United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Code source versionne et maintenable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4864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Integration reussie dans l'ecosysteme HN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Utilisation des standards nationaux (Nakala, Huma-Num)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Infrastructure hebergee a l'Universite de Strasbourg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Outils open-source partages avec la communaute DH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Interface bilingue FR/EN pour rayonnement international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Modele reutilisable pour d'autres corpus medievaux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Perspectives et developpements futurs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Extension du corpus : integration de nouveaux manuscrits et traditions textuelles</a:t>
            </a:r>
          </a:p>
          <a:p>
            <a:pPr>
              <a:spcAft>
                <a:spcPts val="1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Amelioration des modeles HTR : fine-tuning continu pour reduire le taux d'erreur</a:t>
            </a:r>
          </a:p>
          <a:p>
            <a:pPr>
              <a:spcAft>
                <a:spcPts val="1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Enrichissement de la base Heurist : ajout des entites manquantes (Chapitre, Lien)</a:t>
            </a:r>
          </a:p>
          <a:p>
            <a:pPr>
              <a:spcAft>
                <a:spcPts val="1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Interoperabilite : connexion avec d'autres projets DH regionaux et europeens</a:t>
            </a:r>
          </a:p>
          <a:p>
            <a:pPr>
              <a:spcAft>
                <a:spcPts val="1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Analyse computationnelle avancee : detection automatique d'allegation, analyse de reseau</a:t>
            </a:r>
          </a:p>
          <a:p>
            <a:pPr>
              <a:spcAft>
                <a:spcPts val="1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Formation et documentation : ateliers pour la communaute HN alsacienne</a:t>
            </a:r>
          </a:p>
          <a:p>
            <a:pPr>
              <a:spcAft>
                <a:spcPts val="1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Perennisation : integration dans les infrastructures durables de l'Unistra et Huma-Num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3200400"/>
          </a:xfrm>
          <a:prstGeom prst="rect">
            <a:avLst/>
          </a:prstGeom>
          <a:solidFill>
            <a:srgbClr val="00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91840"/>
            <a:ext cx="2103120" cy="36576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EE"/>
                </a:solidFill>
                <a:latin typeface="Calibri"/>
              </a:defRPr>
            </a:pPr>
            <a:r>
              <a:t>Questions et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AACC"/>
                </a:solidFill>
                <a:latin typeface="Calibri"/>
              </a:defRPr>
            </a:pPr>
            <a:r>
              <a:t>CiSaMe - Circulation des Savoirs Medievaux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99BB"/>
                </a:solidFill>
                <a:latin typeface="Calibri"/>
              </a:defRPr>
            </a:pPr>
            <a:r>
              <a:t>cisame.vercel.app  |  Universite de Strasbourg  |  Faculte de Droit  |  MISHA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